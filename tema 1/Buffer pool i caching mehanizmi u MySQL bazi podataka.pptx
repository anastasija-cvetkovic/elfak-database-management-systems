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boto Mono Bold" charset="1" panose="00000000000000000000"/>
      <p:regular r:id="rId17"/>
    </p:embeddedFont>
    <p:embeddedFont>
      <p:font typeface="Roboto Mono" charset="1" panose="00000000000000000000"/>
      <p:regular r:id="rId18"/>
    </p:embeddedFont>
    <p:embeddedFont>
      <p:font typeface="Nunito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133930"/>
            <a:ext cx="15507121" cy="336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8"/>
              </a:lnSpc>
            </a:pPr>
            <a:r>
              <a:rPr lang="en-US" sz="7744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BUFFER POOL I CACHING MEHANIZMI U MYSQL BAZI PODATAKA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6596902"/>
            <a:ext cx="7264894" cy="838151"/>
            <a:chOff x="0" y="0"/>
            <a:chExt cx="1913388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388" cy="220747"/>
            </a:xfrm>
            <a:custGeom>
              <a:avLst/>
              <a:gdLst/>
              <a:ahLst/>
              <a:cxnLst/>
              <a:rect r="r" b="b" t="t" l="l"/>
              <a:pathLst>
                <a:path h="220747" w="1913388">
                  <a:moveTo>
                    <a:pt x="106566" y="0"/>
                  </a:moveTo>
                  <a:lnTo>
                    <a:pt x="1806822" y="0"/>
                  </a:lnTo>
                  <a:cubicBezTo>
                    <a:pt x="1835085" y="0"/>
                    <a:pt x="1862190" y="11227"/>
                    <a:pt x="1882175" y="31213"/>
                  </a:cubicBezTo>
                  <a:cubicBezTo>
                    <a:pt x="1902160" y="51198"/>
                    <a:pt x="1913388" y="78303"/>
                    <a:pt x="1913388" y="106566"/>
                  </a:cubicBezTo>
                  <a:lnTo>
                    <a:pt x="1913388" y="114181"/>
                  </a:lnTo>
                  <a:cubicBezTo>
                    <a:pt x="1913388" y="173036"/>
                    <a:pt x="1865677" y="220747"/>
                    <a:pt x="1806822" y="220747"/>
                  </a:cubicBezTo>
                  <a:lnTo>
                    <a:pt x="106566" y="220747"/>
                  </a:lnTo>
                  <a:cubicBezTo>
                    <a:pt x="47711" y="220747"/>
                    <a:pt x="0" y="173036"/>
                    <a:pt x="0" y="114181"/>
                  </a:cubicBezTo>
                  <a:lnTo>
                    <a:pt x="0" y="106566"/>
                  </a:lnTo>
                  <a:cubicBezTo>
                    <a:pt x="0" y="47711"/>
                    <a:pt x="47711" y="0"/>
                    <a:pt x="10656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913388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63969" y="6704582"/>
            <a:ext cx="6594356" cy="55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Roboto Mono"/>
                <a:ea typeface="Roboto Mono"/>
                <a:cs typeface="Roboto Mono"/>
                <a:sym typeface="Roboto Mono"/>
              </a:rPr>
              <a:t>Anastasija Cvetković 2182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699209"/>
            <a:ext cx="6680614" cy="55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Roboto Mono"/>
                <a:ea typeface="Roboto Mono"/>
                <a:cs typeface="Roboto Mono"/>
                <a:sym typeface="Roboto Mono"/>
              </a:rPr>
              <a:t>Elektronski fakultet Niš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  <a:r>
                <a:rPr lang="en-US" sz="1922" spc="10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53735"/>
            <a:ext cx="15018872" cy="720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Disk je ~10⁵× sporiji od RAM-a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RAM  ≈ 100 ns            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SSD  ≈ 100 μs                                                     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HDD  ≈ 10 ms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</a:p>
          <a:p>
            <a:pPr algn="l" marL="675917" indent="-337959" lvl="1">
              <a:lnSpc>
                <a:spcPts val="4382"/>
              </a:lnSpc>
              <a:buFont typeface="Arial"/>
              <a:buChar char="•"/>
            </a:pPr>
            <a:r>
              <a:rPr lang="en-US" b="true" sz="31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Hit ratio &gt; 99% u zdravom MySQL-u</a:t>
            </a:r>
          </a:p>
          <a:p>
            <a:pPr algn="l">
              <a:lnSpc>
                <a:spcPts val="4382"/>
              </a:lnSpc>
            </a:pPr>
          </a:p>
          <a:p>
            <a:pPr algn="l" marL="675917" indent="-337959" lvl="1">
              <a:lnSpc>
                <a:spcPts val="4382"/>
              </a:lnSpc>
              <a:buFont typeface="Arial"/>
              <a:buChar char="•"/>
            </a:pPr>
            <a:r>
              <a:rPr lang="en-US" b="true" sz="31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Centralna teza: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</a:t>
            </a: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Svaka I/O operacija u InnoDB prolazi kroz buffer pool, 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nikad direktno preko diska</a:t>
            </a: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</a:p>
          <a:p>
            <a:pPr algn="l">
              <a:lnSpc>
                <a:spcPts val="4382"/>
              </a:lnSpc>
            </a:pPr>
            <a:r>
              <a:rPr lang="en-US" sz="31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   </a:t>
            </a:r>
          </a:p>
          <a:p>
            <a:pPr algn="l" marL="675917" indent="-337959" lvl="1">
              <a:lnSpc>
                <a:spcPts val="4382"/>
              </a:lnSpc>
              <a:buFont typeface="Arial"/>
              <a:buChar char="•"/>
            </a:pPr>
            <a:r>
              <a:rPr lang="en-US" b="true" sz="31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Fokus rada: MySQL 9.7 LTS                                       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706225" y="19650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40940"/>
            <a:ext cx="13439435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01 ZAŠTO BUFFER POOL?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61754" y="2327030"/>
            <a:ext cx="7797546" cy="6004110"/>
          </a:xfrm>
          <a:custGeom>
            <a:avLst/>
            <a:gdLst/>
            <a:ahLst/>
            <a:cxnLst/>
            <a:rect r="r" b="b" t="t" l="l"/>
            <a:pathLst>
              <a:path h="6004110" w="7797546">
                <a:moveTo>
                  <a:pt x="0" y="0"/>
                </a:moveTo>
                <a:lnTo>
                  <a:pt x="7797546" y="0"/>
                </a:lnTo>
                <a:lnTo>
                  <a:pt x="7797546" y="6004110"/>
                </a:lnTo>
                <a:lnTo>
                  <a:pt x="0" y="6004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7575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02 INNODB ENGINE I BUFFER POOL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7575" y="2260355"/>
            <a:ext cx="10115677" cy="512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 je default engine 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od MySQL 5.5 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↳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ACID, MVCC,  strani ključevi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Stranica = 16KB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↳osnovna jedinica I/O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Hijerahija buffer pool-a: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↳ instanca → chunk (128MB) → frame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18970" y="5982458"/>
            <a:ext cx="11301259" cy="3616403"/>
          </a:xfrm>
          <a:custGeom>
            <a:avLst/>
            <a:gdLst/>
            <a:ahLst/>
            <a:cxnLst/>
            <a:rect r="r" b="b" t="t" l="l"/>
            <a:pathLst>
              <a:path h="3616403" w="11301259">
                <a:moveTo>
                  <a:pt x="0" y="0"/>
                </a:moveTo>
                <a:lnTo>
                  <a:pt x="11301259" y="0"/>
                </a:lnTo>
                <a:lnTo>
                  <a:pt x="11301259" y="3616403"/>
                </a:lnTo>
                <a:lnTo>
                  <a:pt x="0" y="361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03 LISTE I MIDPOINT LRU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01385"/>
            <a:ext cx="14243177" cy="284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Tri liste (po instanci):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LRU   - sve keširane stranice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Free  - prazni frame-ovi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Flush - samo dirty (sortirano po LSN)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Problem klasičnog LRU: full table scan “ispira keš”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Rešenje: midpoint insertion strategy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04 KONFIGURACIJA BUFFER POOL-A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51858"/>
            <a:ext cx="7522271" cy="741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Veličina: 70%-80% RAM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innodb_buffer_pool_size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Paralelizam: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 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instance x chunk 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(bez mutex contention-a)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Online resize od 5.7 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(bez restart-a)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Dump/Load → zagrevanje kreša pri restart-u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</a:t>
            </a: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(bez hladnog starta)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505689"/>
            <a:ext cx="7889333" cy="425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my.cnf</a:t>
            </a:r>
          </a:p>
          <a:p>
            <a:pPr algn="l">
              <a:lnSpc>
                <a:spcPts val="3542"/>
              </a:lnSpc>
            </a:pPr>
          </a:p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innodb_buffer_pool_size = 64G</a:t>
            </a:r>
          </a:p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innodb_buffer_pool_instances = 8</a:t>
            </a:r>
          </a:p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innodb_buffer_pool_chunk_size = 128M</a:t>
            </a:r>
          </a:p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innodb_buffer_pool_dump_at_shutdown = ON</a:t>
            </a:r>
          </a:p>
          <a:p>
            <a:pPr algn="l">
              <a:lnSpc>
                <a:spcPts val="3542"/>
              </a:lnSpc>
            </a:pPr>
            <a:r>
              <a:rPr lang="en-US" sz="25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innodb_buffer_pool_load_at_startup = ON</a:t>
            </a:r>
          </a:p>
          <a:p>
            <a:pPr algn="l">
              <a:lnSpc>
                <a:spcPts val="4522"/>
              </a:lnSpc>
            </a:pPr>
          </a:p>
          <a:p>
            <a:pPr algn="l">
              <a:lnSpc>
                <a:spcPts val="452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39415" y="3234241"/>
            <a:ext cx="13565938" cy="5324630"/>
          </a:xfrm>
          <a:custGeom>
            <a:avLst/>
            <a:gdLst/>
            <a:ahLst/>
            <a:cxnLst/>
            <a:rect r="r" b="b" t="t" l="l"/>
            <a:pathLst>
              <a:path h="5324630" w="13565938">
                <a:moveTo>
                  <a:pt x="0" y="0"/>
                </a:moveTo>
                <a:lnTo>
                  <a:pt x="13565937" y="0"/>
                </a:lnTo>
                <a:lnTo>
                  <a:pt x="13565937" y="5324630"/>
                </a:lnTo>
                <a:lnTo>
                  <a:pt x="0" y="5324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15387367" cy="182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05 POMOĆNE STRUKTURE U BUFFER POOL-U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30423" y="5431233"/>
            <a:ext cx="11301259" cy="2853568"/>
          </a:xfrm>
          <a:custGeom>
            <a:avLst/>
            <a:gdLst/>
            <a:ahLst/>
            <a:cxnLst/>
            <a:rect r="r" b="b" t="t" l="l"/>
            <a:pathLst>
              <a:path h="2853568" w="11301259">
                <a:moveTo>
                  <a:pt x="0" y="0"/>
                </a:moveTo>
                <a:lnTo>
                  <a:pt x="11301259" y="0"/>
                </a:lnTo>
                <a:lnTo>
                  <a:pt x="11301259" y="2853568"/>
                </a:lnTo>
                <a:lnTo>
                  <a:pt x="0" y="2853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06 FLUSHING I CHECKPOINTING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51858"/>
            <a:ext cx="14304705" cy="284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Dirty stranice → moraju na disk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Adaptive flushing - kontinuirano, bez checkpoint stalls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Page cleaner threads (1 po instanci)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Fuzzy checkpointing - nema “stop the world”</a:t>
            </a:r>
          </a:p>
          <a:p>
            <a:pPr algn="l">
              <a:lnSpc>
                <a:spcPts val="452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71754" y="2424139"/>
            <a:ext cx="11301259" cy="3983694"/>
          </a:xfrm>
          <a:custGeom>
            <a:avLst/>
            <a:gdLst/>
            <a:ahLst/>
            <a:cxnLst/>
            <a:rect r="r" b="b" t="t" l="l"/>
            <a:pathLst>
              <a:path h="3983694" w="11301259">
                <a:moveTo>
                  <a:pt x="0" y="0"/>
                </a:moveTo>
                <a:lnTo>
                  <a:pt x="11301259" y="0"/>
                </a:lnTo>
                <a:lnTo>
                  <a:pt x="11301259" y="3983694"/>
                </a:lnTo>
                <a:lnTo>
                  <a:pt x="0" y="398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07 MONITORING BUFFER POOL-A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783924"/>
            <a:ext cx="15161964" cy="22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Gde ih čitamo: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5B9CDC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SHOW ENGINE INNODB STATUS</a:t>
            </a: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(sekcija BUFFER POOL AND MEMORY)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5B9CDC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INFORMATION_SCHEMA.INNODB_BUFFER_POOL_STATS</a:t>
            </a: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5B9CDC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performance_schema</a:t>
            </a: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+ </a:t>
            </a:r>
            <a:r>
              <a:rPr lang="en-US" b="true" sz="3230">
                <a:solidFill>
                  <a:srgbClr val="5B9CDC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sys schema views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81372"/>
            <a:ext cx="14339141" cy="5628113"/>
          </a:xfrm>
          <a:custGeom>
            <a:avLst/>
            <a:gdLst/>
            <a:ahLst/>
            <a:cxnLst/>
            <a:rect r="r" b="b" t="t" l="l"/>
            <a:pathLst>
              <a:path h="5628113" w="14339141">
                <a:moveTo>
                  <a:pt x="0" y="0"/>
                </a:moveTo>
                <a:lnTo>
                  <a:pt x="14339141" y="0"/>
                </a:lnTo>
                <a:lnTo>
                  <a:pt x="14339141" y="5628113"/>
                </a:lnTo>
                <a:lnTo>
                  <a:pt x="0" y="5628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08 DRUGI CACHING MEHANIZMI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70653"/>
            <a:ext cx="16842190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Napomena: Query Cache - uklonjen u MySQL 8.0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(globalni mutex, niski hit-rate u praksi → danas Redis/Memcached)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57275"/>
            <a:ext cx="15387367" cy="92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272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09 ZAKLJUČAK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11907"/>
            <a:ext cx="15522012" cy="627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Buffer pool je obavezan put - svaka I/O ide kroz njega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Tri ključna mehanizma</a:t>
            </a:r>
          </a:p>
          <a:p>
            <a:pPr algn="l" marL="1395013" indent="-465004" lvl="2">
              <a:lnSpc>
                <a:spcPts val="4522"/>
              </a:lnSpc>
              <a:buFont typeface="Arial"/>
              <a:buChar char="⚬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midpoint LRU → rešava scan zagađenje</a:t>
            </a:r>
          </a:p>
          <a:p>
            <a:pPr algn="l" marL="1395013" indent="-465004" lvl="2">
              <a:lnSpc>
                <a:spcPts val="4522"/>
              </a:lnSpc>
              <a:buFont typeface="Arial"/>
              <a:buChar char="⚬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adaptive flushing → izbegava checkpoint stalls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Iznad InnoDB-a postoje i drugi cache slojevi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(table / thread / prepared statement)</a:t>
            </a:r>
          </a:p>
          <a:p>
            <a:pPr algn="l">
              <a:lnSpc>
                <a:spcPts val="4522"/>
              </a:lnSpc>
            </a:pPr>
          </a:p>
          <a:p>
            <a:pPr algn="l" marL="697507" indent="-348753" lvl="1">
              <a:lnSpc>
                <a:spcPts val="4522"/>
              </a:lnSpc>
              <a:buFont typeface="Arial"/>
              <a:buChar char="•"/>
            </a:pPr>
            <a:r>
              <a:rPr lang="en-US" b="true" sz="3230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Merenje &gt; pretpostavke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 doslednost workload + RAM + I/O važnija od “magic” vrednosti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839137"/>
            <a:ext cx="10208996" cy="30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HVALA NA PAŽNJI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DAHJd0y3NsM</dc:identifier>
  <dcterms:modified xsi:type="dcterms:W3CDTF">2011-08-01T06:04:30Z</dcterms:modified>
  <cp:revision>1</cp:revision>
  <dc:title>Blue and Beige Simple Project Proposal Presentation</dc:title>
</cp:coreProperties>
</file>